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0"/>
  </p:notesMasterIdLst>
  <p:sldIdLst>
    <p:sldId id="256" r:id="rId2"/>
    <p:sldId id="277" r:id="rId3"/>
    <p:sldId id="259" r:id="rId4"/>
    <p:sldId id="278" r:id="rId5"/>
    <p:sldId id="268" r:id="rId6"/>
    <p:sldId id="257" r:id="rId7"/>
    <p:sldId id="281" r:id="rId8"/>
    <p:sldId id="263" r:id="rId9"/>
    <p:sldId id="273" r:id="rId10"/>
    <p:sldId id="275" r:id="rId11"/>
    <p:sldId id="280" r:id="rId12"/>
    <p:sldId id="276" r:id="rId13"/>
    <p:sldId id="271" r:id="rId14"/>
    <p:sldId id="269" r:id="rId15"/>
    <p:sldId id="270" r:id="rId16"/>
    <p:sldId id="265" r:id="rId17"/>
    <p:sldId id="272" r:id="rId18"/>
    <p:sldId id="27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405F90-30A4-4217-8366-E7C5CAE14ABA}" v="3" dt="2025-09-30T08:50:24.2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4660"/>
  </p:normalViewPr>
  <p:slideViewPr>
    <p:cSldViewPr snapToGrid="0" snapToObjects="1">
      <p:cViewPr varScale="1">
        <p:scale>
          <a:sx n="75" d="100"/>
          <a:sy n="75" d="100"/>
        </p:scale>
        <p:origin x="1368"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1E33AE-9B09-44FE-99AD-799415C3E086}" type="datetimeFigureOut">
              <a:rPr lang="en-IN" smtClean="0"/>
              <a:t>08-09-2026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AAF25-8536-4993-9E0A-57DF37EE4583}" type="slidenum">
              <a:rPr lang="en-IN" smtClean="0"/>
              <a:t>‹#›</a:t>
            </a:fld>
            <a:endParaRPr lang="en-IN"/>
          </a:p>
        </p:txBody>
      </p:sp>
    </p:spTree>
    <p:extLst>
      <p:ext uri="{BB962C8B-B14F-4D97-AF65-F5344CB8AC3E}">
        <p14:creationId xmlns:p14="http://schemas.microsoft.com/office/powerpoint/2010/main" val="2393571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49AAF25-8536-4993-9E0A-57DF37EE4583}" type="slidenum">
              <a:rPr lang="en-IN" smtClean="0"/>
              <a:t>8</a:t>
            </a:fld>
            <a:endParaRPr lang="en-IN"/>
          </a:p>
        </p:txBody>
      </p:sp>
    </p:spTree>
    <p:extLst>
      <p:ext uri="{BB962C8B-B14F-4D97-AF65-F5344CB8AC3E}">
        <p14:creationId xmlns:p14="http://schemas.microsoft.com/office/powerpoint/2010/main" val="4138852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9839-A506-9C1E-D984-5E82771C03D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764730D-F18A-D2CD-AF7C-B37880BBE83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4FC3C8-6649-7B21-AADF-C544944AF226}"/>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a:extLst>
              <a:ext uri="{FF2B5EF4-FFF2-40B4-BE49-F238E27FC236}">
                <a16:creationId xmlns:a16="http://schemas.microsoft.com/office/drawing/2014/main" id="{D31201D1-F93F-A0FC-43A1-7D202D757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CBD825-8599-1FF6-2883-508C45D01D6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1381537"/>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1587-DBFA-3C0D-547B-25B4061780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41B06E-E827-E7C8-DA2E-6D22862B6F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7B8F00-A13A-DB02-1887-2D985F91E4A7}"/>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a:extLst>
              <a:ext uri="{FF2B5EF4-FFF2-40B4-BE49-F238E27FC236}">
                <a16:creationId xmlns:a16="http://schemas.microsoft.com/office/drawing/2014/main" id="{C0CF00C0-1A5C-92B1-ED15-971F9353C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C6A33-A4C4-52F9-79BD-94156EF89D6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954428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0B675-E0A2-0139-57BB-86451B49D2A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9F2845-3321-A198-8B58-24E46F3E0A1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2C96FD-FED7-5E03-99C0-F8AD76F356C3}"/>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a:extLst>
              <a:ext uri="{FF2B5EF4-FFF2-40B4-BE49-F238E27FC236}">
                <a16:creationId xmlns:a16="http://schemas.microsoft.com/office/drawing/2014/main" id="{4E13F60F-FC9E-AB32-8433-8D60E22FB6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05B250-239B-C773-7796-B8E6FDE9B79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7945236"/>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8579-0F2D-8381-3E59-0F4D6E681D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C88D2B-F7BC-9F01-5F4C-43E57E74DCC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F3A6729-7B40-7BE5-2C1A-3BA9D76671C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DE6ACB-1B46-31F2-70AB-8AB85CECFBD2}"/>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a:extLst>
              <a:ext uri="{FF2B5EF4-FFF2-40B4-BE49-F238E27FC236}">
                <a16:creationId xmlns:a16="http://schemas.microsoft.com/office/drawing/2014/main" id="{56FC59E3-8281-0763-0C42-08FF206885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B1D993-FEFE-6247-DA77-881A46A4912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132830"/>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85468-DE09-0AC7-F8E6-16EA8BF1A52F}"/>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9901FA-0F2C-E90C-A2F2-CB31AEF1E92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1132602-8CEC-D3A1-9D35-E7C97A2E8E42}"/>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9B6899-756C-E45B-B784-565ABDC2A81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6160B56-6477-ED2C-BA5A-D2EE01E51A4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2560C0-75DC-35CF-3B3B-0A166EAD79C9}"/>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a:extLst>
              <a:ext uri="{FF2B5EF4-FFF2-40B4-BE49-F238E27FC236}">
                <a16:creationId xmlns:a16="http://schemas.microsoft.com/office/drawing/2014/main" id="{837FC694-BA53-CFBC-F2E2-BFCC025C27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E21B92-CC21-32BB-F075-2031477831A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6840517"/>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11B8A-9F96-1C7A-A03C-25058E07C7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C66590-87CA-E851-DB67-E72ACBCE6283}"/>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a:extLst>
              <a:ext uri="{FF2B5EF4-FFF2-40B4-BE49-F238E27FC236}">
                <a16:creationId xmlns:a16="http://schemas.microsoft.com/office/drawing/2014/main" id="{6F0BF31B-7F90-D44D-FAF0-5677A61F11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15F0A6-57ED-CD57-B42C-90712F4FCBE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367801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C4DC89-FAA7-99C8-A73E-E9E1B82166D5}"/>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a:extLst>
              <a:ext uri="{FF2B5EF4-FFF2-40B4-BE49-F238E27FC236}">
                <a16:creationId xmlns:a16="http://schemas.microsoft.com/office/drawing/2014/main" id="{6B10CDA1-4C81-192F-C79C-58C518318F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24DA61-C11C-384E-6AB2-AF6967B1C80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911928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F546-FC6F-3F08-2D83-2C8B212317E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D98B51-44E4-FE84-CCB5-6647E69C091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2ADD1FF-1FA5-3CD8-E73E-E18B83B9558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2A04491-1CE4-C95B-F0DE-8DB70B2F6FE6}"/>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a:extLst>
              <a:ext uri="{FF2B5EF4-FFF2-40B4-BE49-F238E27FC236}">
                <a16:creationId xmlns:a16="http://schemas.microsoft.com/office/drawing/2014/main" id="{6099A3E4-4782-0B17-D04D-E6C2A4EB64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EDB46-59C3-C3B8-C73F-3CDE14D139E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513864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AEC1-AD7E-9C64-5764-C1B5A09BFA2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6B5D4E-89EC-4E7F-8222-3672D09C486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6CCCDE7D-3060-2114-342B-8711DD37F2F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F2EC412-335B-EF47-880B-1CF813515BA4}"/>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a:extLst>
              <a:ext uri="{FF2B5EF4-FFF2-40B4-BE49-F238E27FC236}">
                <a16:creationId xmlns:a16="http://schemas.microsoft.com/office/drawing/2014/main" id="{CBFFC343-25E0-681B-AA07-09942802A85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F579C49-846B-DD1D-F060-0E4F893DCBE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057503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F6045-17DF-6727-7151-C6D82467B4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47EAFC-76C6-63FB-C116-466622BDA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8953EF-3070-9004-B27D-AF55B9BDE4A0}"/>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a:extLst>
              <a:ext uri="{FF2B5EF4-FFF2-40B4-BE49-F238E27FC236}">
                <a16:creationId xmlns:a16="http://schemas.microsoft.com/office/drawing/2014/main" id="{2E3998BE-8AF4-4CC2-DFE4-E2D2B434F7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B2ACC-5D67-AF3E-160C-FFD97039F09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061856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265BC6-BF93-F1BB-3EBD-005D09EF281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7C47A9-52A7-6DA8-7358-EB5354B3B86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317F00-6A14-743E-0FAB-285C249553BD}"/>
              </a:ext>
            </a:extLst>
          </p:cNvPr>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a:extLst>
              <a:ext uri="{FF2B5EF4-FFF2-40B4-BE49-F238E27FC236}">
                <a16:creationId xmlns:a16="http://schemas.microsoft.com/office/drawing/2014/main" id="{1D0BD018-146E-147C-428B-CE62A50246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F47EC-570D-581D-8EAC-FC8CA4FFC0F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2289973"/>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E44047-D448-2F52-BF52-35386D38A94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37F3A3-EE98-7583-0FF1-4326DAAE732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B036B1-15C2-E36B-65DB-B837277EDED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a:extLst>
              <a:ext uri="{FF2B5EF4-FFF2-40B4-BE49-F238E27FC236}">
                <a16:creationId xmlns:a16="http://schemas.microsoft.com/office/drawing/2014/main" id="{B449D254-188D-D931-9290-5AC67F26C8F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C8FB7A-6208-A4CF-6A0F-78037724B07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9454175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push dir="u"/>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4680" y="285145"/>
            <a:ext cx="7772400" cy="2474769"/>
          </a:xfrm>
        </p:spPr>
        <p:txBody>
          <a:bodyPr>
            <a:normAutofit/>
          </a:bodyPr>
          <a:lstStyle/>
          <a:p>
            <a:br>
              <a:rPr lang="en-IN" sz="2600" b="1" dirty="0">
                <a:solidFill>
                  <a:srgbClr val="003366"/>
                </a:solidFill>
                <a:latin typeface="Times New Roman" panose="02020603050405020304" pitchFamily="18" charset="0"/>
                <a:cs typeface="Times New Roman" panose="02020603050405020304" pitchFamily="18" charset="0"/>
              </a:rPr>
            </a:br>
            <a:r>
              <a:rPr lang="en-US" sz="3000" b="1" dirty="0">
                <a:solidFill>
                  <a:srgbClr val="003366"/>
                </a:solidFill>
                <a:latin typeface="Copperplate Gothic Bold" panose="020E0705020206020404" pitchFamily="34" charset="0"/>
                <a:cs typeface="Times New Roman" panose="02020603050405020304" pitchFamily="18" charset="0"/>
              </a:rPr>
              <a:t>Simulation and Detection of Sybil Attacks in Vehicular Ad Hoc Networks using </a:t>
            </a:r>
            <a:r>
              <a:rPr lang="en-US" sz="3000" b="1" dirty="0" err="1">
                <a:solidFill>
                  <a:srgbClr val="003366"/>
                </a:solidFill>
                <a:latin typeface="Copperplate Gothic Bold" panose="020E0705020206020404" pitchFamily="34" charset="0"/>
                <a:cs typeface="Times New Roman" panose="02020603050405020304" pitchFamily="18" charset="0"/>
              </a:rPr>
              <a:t>OMNeT</a:t>
            </a:r>
            <a:r>
              <a:rPr lang="en-US" sz="3000" b="1" dirty="0">
                <a:solidFill>
                  <a:srgbClr val="003366"/>
                </a:solidFill>
                <a:latin typeface="Copperplate Gothic Bold" panose="020E0705020206020404" pitchFamily="34" charset="0"/>
                <a:cs typeface="Times New Roman" panose="02020603050405020304" pitchFamily="18" charset="0"/>
              </a:rPr>
              <a:t>++, Veins and SUMO</a:t>
            </a:r>
            <a:endParaRPr sz="3000" b="1" dirty="0">
              <a:solidFill>
                <a:srgbClr val="003366"/>
              </a:solidFill>
              <a:latin typeface="Copperplate Gothic Bold" panose="020E0705020206020404" pitchFamily="34" charset="0"/>
              <a:cs typeface="Times New Roman" panose="02020603050405020304" pitchFamily="18" charset="0"/>
            </a:endParaRPr>
          </a:p>
        </p:txBody>
      </p:sp>
      <p:sp>
        <p:nvSpPr>
          <p:cNvPr id="3" name="Subtitle 2"/>
          <p:cNvSpPr>
            <a:spLocks noGrp="1"/>
          </p:cNvSpPr>
          <p:nvPr>
            <p:ph type="subTitle" idx="1"/>
          </p:nvPr>
        </p:nvSpPr>
        <p:spPr>
          <a:xfrm>
            <a:off x="825910" y="2849047"/>
            <a:ext cx="7632290" cy="3500286"/>
          </a:xfrm>
        </p:spPr>
        <p:txBody>
          <a:bodyPr>
            <a:noAutofit/>
          </a:bodyPr>
          <a:lstStyle/>
          <a:p>
            <a:r>
              <a:rPr lang="en-IN" sz="2200" b="1" dirty="0">
                <a:solidFill>
                  <a:srgbClr val="3C3C3C"/>
                </a:solidFill>
                <a:latin typeface="Arial" panose="020B0604020202020204" pitchFamily="34" charset="0"/>
                <a:cs typeface="Arial" panose="020B0604020202020204" pitchFamily="34" charset="0"/>
              </a:rPr>
              <a:t>21ECC402P-Computer Communication and Network Security</a:t>
            </a:r>
          </a:p>
          <a:p>
            <a:r>
              <a:rPr sz="2200" b="1" dirty="0">
                <a:solidFill>
                  <a:srgbClr val="3C3C3C"/>
                </a:solidFill>
                <a:latin typeface="Arial" panose="020B0604020202020204" pitchFamily="34" charset="0"/>
                <a:cs typeface="Arial" panose="020B0604020202020204" pitchFamily="34" charset="0"/>
              </a:rPr>
              <a:t>Team </a:t>
            </a:r>
            <a:r>
              <a:rPr lang="en-IN" sz="2200" b="1" dirty="0">
                <a:solidFill>
                  <a:srgbClr val="3C3C3C"/>
                </a:solidFill>
                <a:latin typeface="Arial" panose="020B0604020202020204" pitchFamily="34" charset="0"/>
                <a:cs typeface="Arial" panose="020B0604020202020204" pitchFamily="34" charset="0"/>
              </a:rPr>
              <a:t>Members</a:t>
            </a:r>
            <a:r>
              <a:rPr sz="2200" b="1" dirty="0">
                <a:solidFill>
                  <a:srgbClr val="3C3C3C"/>
                </a:solidFill>
                <a:latin typeface="Arial" panose="020B0604020202020204" pitchFamily="34" charset="0"/>
                <a:cs typeface="Arial" panose="020B0604020202020204" pitchFamily="34" charset="0"/>
              </a:rPr>
              <a:t>:</a:t>
            </a:r>
          </a:p>
          <a:p>
            <a:r>
              <a:rPr sz="2200" b="0" dirty="0">
                <a:solidFill>
                  <a:srgbClr val="3C3C3C"/>
                </a:solidFill>
                <a:latin typeface="Arial" panose="020B0604020202020204" pitchFamily="34" charset="0"/>
                <a:cs typeface="Arial" panose="020B0604020202020204" pitchFamily="34" charset="0"/>
              </a:rPr>
              <a:t>Aravindh J</a:t>
            </a:r>
            <a:r>
              <a:rPr lang="en-IN" sz="2200" b="0" dirty="0">
                <a:solidFill>
                  <a:srgbClr val="3C3C3C"/>
                </a:solidFill>
                <a:latin typeface="Arial" panose="020B0604020202020204" pitchFamily="34" charset="0"/>
                <a:cs typeface="Arial" panose="020B0604020202020204" pitchFamily="34" charset="0"/>
              </a:rPr>
              <a:t> </a:t>
            </a:r>
            <a:r>
              <a:rPr lang="en-US" sz="2200" dirty="0">
                <a:solidFill>
                  <a:srgbClr val="3C3C3C"/>
                </a:solidFill>
                <a:latin typeface="Arial" panose="020B0604020202020204" pitchFamily="34" charset="0"/>
                <a:cs typeface="Arial" panose="020B0604020202020204" pitchFamily="34" charset="0"/>
              </a:rPr>
              <a:t>- (RA2311004010592)</a:t>
            </a:r>
            <a:endParaRPr sz="2200" b="0" dirty="0">
              <a:solidFill>
                <a:srgbClr val="3C3C3C"/>
              </a:solidFill>
              <a:latin typeface="Arial" panose="020B0604020202020204" pitchFamily="34" charset="0"/>
              <a:cs typeface="Arial" panose="020B0604020202020204" pitchFamily="34" charset="0"/>
            </a:endParaRPr>
          </a:p>
          <a:p>
            <a:r>
              <a:rPr lang="en-IN" sz="2200" dirty="0">
                <a:solidFill>
                  <a:srgbClr val="3C3C3C"/>
                </a:solidFill>
                <a:latin typeface="Arial" panose="020B0604020202020204" pitchFamily="34" charset="0"/>
                <a:cs typeface="Arial" panose="020B0604020202020204" pitchFamily="34" charset="0"/>
              </a:rPr>
              <a:t>B .Sri Vignesh</a:t>
            </a:r>
            <a:r>
              <a:rPr sz="2200" b="0" dirty="0">
                <a:solidFill>
                  <a:srgbClr val="3C3C3C"/>
                </a:solidFill>
                <a:latin typeface="Arial" panose="020B0604020202020204" pitchFamily="34" charset="0"/>
                <a:cs typeface="Arial" panose="020B0604020202020204" pitchFamily="34" charset="0"/>
              </a:rPr>
              <a:t> </a:t>
            </a:r>
            <a:r>
              <a:rPr lang="en-US" sz="2200" b="0" dirty="0">
                <a:solidFill>
                  <a:srgbClr val="3C3C3C"/>
                </a:solidFill>
                <a:latin typeface="Arial" panose="020B0604020202020204" pitchFamily="34" charset="0"/>
                <a:cs typeface="Arial" panose="020B0604020202020204" pitchFamily="34" charset="0"/>
              </a:rPr>
              <a:t>- (RA2311004010587)</a:t>
            </a:r>
            <a:endParaRPr sz="2200" b="0" dirty="0">
              <a:solidFill>
                <a:srgbClr val="3C3C3C"/>
              </a:solidFill>
              <a:latin typeface="Arial" panose="020B0604020202020204" pitchFamily="34" charset="0"/>
              <a:cs typeface="Arial" panose="020B0604020202020204" pitchFamily="34" charset="0"/>
            </a:endParaRPr>
          </a:p>
          <a:p>
            <a:r>
              <a:rPr lang="en-US" sz="2200" dirty="0">
                <a:solidFill>
                  <a:srgbClr val="3C3C3C"/>
                </a:solidFill>
                <a:latin typeface="Arial" panose="020B0604020202020204" pitchFamily="34" charset="0"/>
                <a:cs typeface="Arial" panose="020B0604020202020204" pitchFamily="34" charset="0"/>
              </a:rPr>
              <a:t>  Vigneshwaran B</a:t>
            </a:r>
            <a:r>
              <a:rPr lang="en-IN" sz="2200" b="0" dirty="0">
                <a:solidFill>
                  <a:srgbClr val="3C3C3C"/>
                </a:solidFill>
                <a:latin typeface="Arial" panose="020B0604020202020204" pitchFamily="34" charset="0"/>
                <a:cs typeface="Arial" panose="020B0604020202020204" pitchFamily="34" charset="0"/>
              </a:rPr>
              <a:t> </a:t>
            </a:r>
            <a:r>
              <a:rPr lang="en-US" sz="2200" b="0" dirty="0">
                <a:solidFill>
                  <a:srgbClr val="3C3C3C"/>
                </a:solidFill>
                <a:latin typeface="Arial" panose="020B0604020202020204" pitchFamily="34" charset="0"/>
                <a:cs typeface="Arial" panose="020B0604020202020204" pitchFamily="34" charset="0"/>
              </a:rPr>
              <a:t>- (RA2311004010552)</a:t>
            </a:r>
            <a:endParaRPr lang="en-IN" sz="2200" b="0" dirty="0">
              <a:solidFill>
                <a:srgbClr val="3C3C3C"/>
              </a:solidFill>
              <a:latin typeface="Arial" panose="020B0604020202020204" pitchFamily="34" charset="0"/>
              <a:cs typeface="Arial" panose="020B0604020202020204" pitchFamily="34" charset="0"/>
            </a:endParaRPr>
          </a:p>
          <a:p>
            <a:r>
              <a:rPr lang="en-IN" sz="2200" b="1" dirty="0">
                <a:solidFill>
                  <a:srgbClr val="3C3C3C"/>
                </a:solidFill>
                <a:latin typeface="Arial" panose="020B0604020202020204" pitchFamily="34" charset="0"/>
                <a:cs typeface="Arial" panose="020B0604020202020204" pitchFamily="34" charset="0"/>
              </a:rPr>
              <a:t>Guide: </a:t>
            </a:r>
            <a:r>
              <a:rPr lang="en-IN" sz="2200" b="1" dirty="0" err="1">
                <a:solidFill>
                  <a:srgbClr val="3C3C3C"/>
                </a:solidFill>
                <a:latin typeface="Arial" panose="020B0604020202020204" pitchFamily="34" charset="0"/>
                <a:cs typeface="Arial" panose="020B0604020202020204" pitchFamily="34" charset="0"/>
              </a:rPr>
              <a:t>Dr.E.Elamaran</a:t>
            </a:r>
            <a:endParaRPr lang="en-IN" sz="2200" b="1" dirty="0">
              <a:solidFill>
                <a:srgbClr val="3C3C3C"/>
              </a:solidFill>
              <a:latin typeface="Arial" panose="020B0604020202020204" pitchFamily="34" charset="0"/>
              <a:cs typeface="Arial" panose="020B0604020202020204" pitchFamily="34" charset="0"/>
            </a:endParaRPr>
          </a:p>
          <a:p>
            <a:r>
              <a:rPr lang="en-IN" sz="2200" dirty="0">
                <a:solidFill>
                  <a:srgbClr val="3C3C3C"/>
                </a:solidFill>
                <a:latin typeface="Arial" panose="020B0604020202020204" pitchFamily="34" charset="0"/>
                <a:cs typeface="Arial" panose="020B0604020202020204" pitchFamily="34" charset="0"/>
              </a:rPr>
              <a:t>Department of Electronics and Communication Engineering</a:t>
            </a:r>
          </a:p>
          <a:p>
            <a:r>
              <a:rPr lang="en-IN" sz="2200" dirty="0">
                <a:solidFill>
                  <a:srgbClr val="3C3C3C"/>
                </a:solidFill>
                <a:latin typeface="Arial" panose="020B0604020202020204" pitchFamily="34" charset="0"/>
                <a:cs typeface="Arial" panose="020B0604020202020204" pitchFamily="34" charset="0"/>
              </a:rPr>
              <a:t>Srm Institute of Science and Technology</a:t>
            </a:r>
          </a:p>
          <a:p>
            <a:endParaRPr lang="en-IN" sz="2200" dirty="0">
              <a:solidFill>
                <a:srgbClr val="3C3C3C"/>
              </a:solidFill>
              <a:latin typeface="Arial" panose="020B0604020202020204" pitchFamily="34" charset="0"/>
              <a:cs typeface="Arial" panose="020B0604020202020204" pitchFamily="34" charset="0"/>
            </a:endParaRPr>
          </a:p>
          <a:p>
            <a:endParaRPr lang="en-IN" sz="2200" b="0" dirty="0">
              <a:solidFill>
                <a:srgbClr val="3C3C3C"/>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DA2FBB7F-8E85-608A-33FD-E88218256CF2}"/>
              </a:ext>
            </a:extLst>
          </p:cNvPr>
          <p:cNvPicPr>
            <a:picLocks noChangeAspect="1"/>
          </p:cNvPicPr>
          <p:nvPr/>
        </p:nvPicPr>
        <p:blipFill>
          <a:blip r:embed="rId2"/>
          <a:stretch>
            <a:fillRect/>
          </a:stretch>
        </p:blipFill>
        <p:spPr>
          <a:xfrm>
            <a:off x="6923228" y="285145"/>
            <a:ext cx="1810276" cy="615494"/>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3274D-8171-91CF-7ECD-C19271E623A6}"/>
              </a:ext>
            </a:extLst>
          </p:cNvPr>
          <p:cNvSpPr>
            <a:spLocks noGrp="1"/>
          </p:cNvSpPr>
          <p:nvPr>
            <p:ph type="title"/>
          </p:nvPr>
        </p:nvSpPr>
        <p:spPr>
          <a:xfrm>
            <a:off x="628650" y="144462"/>
            <a:ext cx="7886700" cy="1325563"/>
          </a:xfrm>
        </p:spPr>
        <p:txBody>
          <a:bodyPr>
            <a:normAutofit/>
          </a:bodyPr>
          <a:lstStyle/>
          <a:p>
            <a:r>
              <a:rPr lang="en-IN" sz="3000" b="1" dirty="0">
                <a:solidFill>
                  <a:schemeClr val="accent1">
                    <a:lumMod val="50000"/>
                  </a:schemeClr>
                </a:solidFill>
                <a:latin typeface="Copperplate Gothic Bold" panose="020E0705020206020404" pitchFamily="34"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722DEEC2-7E55-E638-19EC-23E76C757BCD}"/>
              </a:ext>
            </a:extLst>
          </p:cNvPr>
          <p:cNvSpPr>
            <a:spLocks noGrp="1"/>
          </p:cNvSpPr>
          <p:nvPr>
            <p:ph idx="1"/>
          </p:nvPr>
        </p:nvSpPr>
        <p:spPr>
          <a:xfrm>
            <a:off x="628650" y="1134745"/>
            <a:ext cx="7886700" cy="4351338"/>
          </a:xfrm>
        </p:spPr>
        <p:txBody>
          <a:bodyPr>
            <a:noAutofit/>
          </a:bodyPr>
          <a:lstStyle/>
          <a:p>
            <a:r>
              <a:rPr lang="en-IN" sz="2400" dirty="0">
                <a:latin typeface="Times New Roman" panose="02020603050405020304" pitchFamily="18" charset="0"/>
                <a:cs typeface="Times New Roman" panose="02020603050405020304" pitchFamily="18" charset="0"/>
              </a:rPr>
              <a:t>Introduction to VANET and Sybil attacks</a:t>
            </a:r>
          </a:p>
          <a:p>
            <a:r>
              <a:rPr lang="en-IN" sz="2400" dirty="0">
                <a:latin typeface="Times New Roman" panose="02020603050405020304" pitchFamily="18" charset="0"/>
                <a:cs typeface="Times New Roman" panose="02020603050405020304" pitchFamily="18" charset="0"/>
              </a:rPr>
              <a:t>Project objectives</a:t>
            </a:r>
          </a:p>
          <a:p>
            <a:r>
              <a:rPr lang="en-IN" sz="2400" dirty="0">
                <a:latin typeface="Times New Roman" panose="02020603050405020304" pitchFamily="18" charset="0"/>
                <a:cs typeface="Times New Roman" panose="02020603050405020304" pitchFamily="18" charset="0"/>
              </a:rPr>
              <a:t>Problem statement</a:t>
            </a:r>
          </a:p>
          <a:p>
            <a:r>
              <a:rPr lang="en-IN" sz="2400" dirty="0">
                <a:latin typeface="Times New Roman" panose="02020603050405020304" pitchFamily="18" charset="0"/>
                <a:cs typeface="Times New Roman" panose="02020603050405020304" pitchFamily="18" charset="0"/>
              </a:rPr>
              <a:t>Literature survey</a:t>
            </a:r>
          </a:p>
          <a:p>
            <a:r>
              <a:rPr lang="en-IN" sz="2400" dirty="0">
                <a:latin typeface="Times New Roman" panose="02020603050405020304" pitchFamily="18" charset="0"/>
                <a:cs typeface="Times New Roman" panose="02020603050405020304" pitchFamily="18" charset="0"/>
              </a:rPr>
              <a:t>System architecture</a:t>
            </a:r>
          </a:p>
          <a:p>
            <a:r>
              <a:rPr lang="en-IN" sz="2400" dirty="0">
                <a:latin typeface="Times New Roman" panose="02020603050405020304" pitchFamily="18" charset="0"/>
                <a:cs typeface="Times New Roman" panose="02020603050405020304" pitchFamily="18" charset="0"/>
              </a:rPr>
              <a:t>Proposed methodology</a:t>
            </a:r>
          </a:p>
          <a:p>
            <a:r>
              <a:rPr lang="en-IN" sz="2400" dirty="0">
                <a:latin typeface="Times New Roman" panose="02020603050405020304" pitchFamily="18" charset="0"/>
                <a:cs typeface="Times New Roman" panose="02020603050405020304" pitchFamily="18" charset="0"/>
              </a:rPr>
              <a:t>Tools and technologies used</a:t>
            </a:r>
          </a:p>
          <a:p>
            <a:r>
              <a:rPr lang="en-IN" sz="2400" dirty="0">
                <a:latin typeface="Times New Roman" panose="02020603050405020304" pitchFamily="18" charset="0"/>
                <a:cs typeface="Times New Roman" panose="02020603050405020304" pitchFamily="18" charset="0"/>
              </a:rPr>
              <a:t>Existing Sybil attack detection </a:t>
            </a:r>
          </a:p>
          <a:p>
            <a:r>
              <a:rPr lang="en-IN" sz="2400" dirty="0">
                <a:latin typeface="Times New Roman" panose="02020603050405020304" pitchFamily="18" charset="0"/>
                <a:cs typeface="Times New Roman" panose="02020603050405020304" pitchFamily="18" charset="0"/>
              </a:rPr>
              <a:t>Methods Proposed detection</a:t>
            </a:r>
          </a:p>
          <a:p>
            <a:r>
              <a:rPr lang="en-IN" sz="2400" dirty="0">
                <a:latin typeface="Times New Roman" panose="02020603050405020304" pitchFamily="18" charset="0"/>
                <a:cs typeface="Times New Roman" panose="02020603050405020304" pitchFamily="18" charset="0"/>
              </a:rPr>
              <a:t> Method Realistic </a:t>
            </a:r>
          </a:p>
          <a:p>
            <a:r>
              <a:rPr lang="en-IN" sz="2400" dirty="0">
                <a:latin typeface="Times New Roman" panose="02020603050405020304" pitchFamily="18" charset="0"/>
                <a:cs typeface="Times New Roman" panose="02020603050405020304" pitchFamily="18" charset="0"/>
              </a:rPr>
              <a:t>constraints and limitations</a:t>
            </a:r>
          </a:p>
          <a:p>
            <a:r>
              <a:rPr lang="en-IN" sz="2400"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Future scope</a:t>
            </a:r>
          </a:p>
        </p:txBody>
      </p:sp>
    </p:spTree>
    <p:extLst>
      <p:ext uri="{BB962C8B-B14F-4D97-AF65-F5344CB8AC3E}">
        <p14:creationId xmlns:p14="http://schemas.microsoft.com/office/powerpoint/2010/main" val="291319402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000" b="1" dirty="0">
                <a:solidFill>
                  <a:srgbClr val="003366"/>
                </a:solidFill>
                <a:latin typeface="Copperplate Gothic Bold" panose="020E0705020206020404" pitchFamily="34" charset="0"/>
                <a:ea typeface="+mn-ea"/>
                <a:cs typeface="Times New Roman" panose="02020603050405020304" pitchFamily="18" charset="0"/>
              </a:rPr>
              <a:t>Introduction</a:t>
            </a:r>
            <a:endParaRPr sz="3000" b="1" dirty="0">
              <a:solidFill>
                <a:srgbClr val="003366"/>
              </a:solidFill>
              <a:latin typeface="Copperplate Gothic Bold" panose="020E0705020206020404" pitchFamily="34" charset="0"/>
              <a:ea typeface="+mn-ea"/>
              <a:cs typeface="Times New Roman" panose="02020603050405020304" pitchFamily="18" charset="0"/>
            </a:endParaRPr>
          </a:p>
        </p:txBody>
      </p:sp>
      <p:sp>
        <p:nvSpPr>
          <p:cNvPr id="4" name="Rectangle 1">
            <a:extLst>
              <a:ext uri="{FF2B5EF4-FFF2-40B4-BE49-F238E27FC236}">
                <a16:creationId xmlns:a16="http://schemas.microsoft.com/office/drawing/2014/main" id="{F94F72AD-CE7D-64DE-98FF-E2709B96F6D8}"/>
              </a:ext>
            </a:extLst>
          </p:cNvPr>
          <p:cNvSpPr>
            <a:spLocks noGrp="1" noChangeArrowheads="1"/>
          </p:cNvSpPr>
          <p:nvPr>
            <p:ph idx="1"/>
          </p:nvPr>
        </p:nvSpPr>
        <p:spPr bwMode="auto">
          <a:xfrm>
            <a:off x="628650" y="1496957"/>
            <a:ext cx="7675592" cy="566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Vehicular Ad Hoc Networks are communication networks in which vehicles exchange information with nearby vehicles and roadside infrastructure without relying entirely on fixed communication infrastructure. Vehicles continuously share information such as their identity, position, speed, direction and timestamp to support intelligent transportation and safety applications. The highly dynamic nature of VANETs makes communication efficient but also introduces security challenges. One important threat is the Sybil attack, where a single physical vehicle uses multiple identities to mislead other vehicles. Therefore, reliable detection of malicious identities is important for maintaining secure and trustworthy vehicular communication.</a:t>
            </a:r>
            <a:endParaRPr lang="en-US" sz="2400" dirty="0">
              <a:latin typeface="Times New Roman" panose="02020603050405020304" pitchFamily="18" charset="0"/>
              <a:cs typeface="Times New Roman" panose="02020603050405020304" pitchFamily="18" charset="0"/>
            </a:endParaRPr>
          </a:p>
          <a:p>
            <a:pPr marL="0" indent="0">
              <a:buNone/>
            </a:pPr>
            <a:br>
              <a:rPr lang="en-US" sz="2400" dirty="0"/>
            </a:br>
            <a:endParaRPr lang="en-US" sz="2400" dirty="0"/>
          </a:p>
        </p:txBody>
      </p:sp>
      <p:pic>
        <p:nvPicPr>
          <p:cNvPr id="5" name="Picture 4">
            <a:extLst>
              <a:ext uri="{FF2B5EF4-FFF2-40B4-BE49-F238E27FC236}">
                <a16:creationId xmlns:a16="http://schemas.microsoft.com/office/drawing/2014/main" id="{63ADF8C2-DBF2-D43D-BFAF-8D6D86C3695B}"/>
              </a:ext>
            </a:extLst>
          </p:cNvPr>
          <p:cNvPicPr>
            <a:picLocks noChangeAspect="1"/>
          </p:cNvPicPr>
          <p:nvPr/>
        </p:nvPicPr>
        <p:blipFill>
          <a:blip r:embed="rId2"/>
          <a:stretch>
            <a:fillRect/>
          </a:stretch>
        </p:blipFill>
        <p:spPr>
          <a:xfrm>
            <a:off x="6923228" y="285145"/>
            <a:ext cx="1810276" cy="615494"/>
          </a:xfrm>
          <a:prstGeom prst="rect">
            <a:avLst/>
          </a:prstGeom>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57327-53A6-51D1-B622-C54902B42996}"/>
              </a:ext>
            </a:extLst>
          </p:cNvPr>
          <p:cNvSpPr>
            <a:spLocks noGrp="1"/>
          </p:cNvSpPr>
          <p:nvPr>
            <p:ph type="title"/>
          </p:nvPr>
        </p:nvSpPr>
        <p:spPr/>
        <p:txBody>
          <a:bodyPr>
            <a:normAutofit/>
          </a:bodyPr>
          <a:lstStyle/>
          <a:p>
            <a:r>
              <a:rPr lang="en-US" sz="3000" dirty="0">
                <a:solidFill>
                  <a:schemeClr val="accent1">
                    <a:lumMod val="50000"/>
                  </a:schemeClr>
                </a:solidFill>
                <a:latin typeface="Copperplate Gothic Bold" panose="020E0705020206020404" pitchFamily="34" charset="0"/>
              </a:rPr>
              <a:t>Abstract</a:t>
            </a:r>
            <a:endParaRPr lang="en-IN" sz="3000" dirty="0">
              <a:solidFill>
                <a:schemeClr val="accent1">
                  <a:lumMod val="50000"/>
                </a:schemeClr>
              </a:solidFill>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2C21D746-51D8-6EFF-C532-9BF78225E8C1}"/>
              </a:ext>
            </a:extLst>
          </p:cNvPr>
          <p:cNvSpPr>
            <a:spLocks noGrp="1"/>
          </p:cNvSpPr>
          <p:nvPr>
            <p:ph idx="1"/>
          </p:nvPr>
        </p:nvSpPr>
        <p:spPr>
          <a:xfrm>
            <a:off x="628650" y="1337945"/>
            <a:ext cx="7886700" cy="4351338"/>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Vehicular Ad Hoc Networks (VANETs) enable vehicles to communicate with each other and with roadside infrastructure through V2V and V2I communication. Since safety applications depend on the information exchanged between vehicles, VANETs are vulnerable to security attacks such as Sybil attacks. In a Sybil attack, a single malicious vehicle creates multiple fake identities and broadcasts messages as if they belong to different vehicles. This project focuses on simulating a realistic VANET environment using </a:t>
            </a:r>
            <a:r>
              <a:rPr lang="en-US" sz="2400" dirty="0" err="1">
                <a:latin typeface="Times New Roman" panose="02020603050405020304" pitchFamily="18" charset="0"/>
                <a:cs typeface="Times New Roman" panose="02020603050405020304" pitchFamily="18" charset="0"/>
              </a:rPr>
              <a:t>OMNeT</a:t>
            </a:r>
            <a:r>
              <a:rPr lang="en-US" sz="2400" dirty="0">
                <a:latin typeface="Times New Roman" panose="02020603050405020304" pitchFamily="18" charset="0"/>
                <a:cs typeface="Times New Roman" panose="02020603050405020304" pitchFamily="18" charset="0"/>
              </a:rPr>
              <a:t>++, Veins and SUMO, implementing a Sybil attack, and detecting suspicious identities using position and movement consistency. The performance of the network and the effectiveness of the detection mechanism are evaluated using parameters such as Packet Delivery Ratio, delay, packet loss, throughput, detection rate and false-positive rate.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109173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73983-36BC-539F-6F36-99506E99FC1B}"/>
              </a:ext>
            </a:extLst>
          </p:cNvPr>
          <p:cNvSpPr>
            <a:spLocks noGrp="1"/>
          </p:cNvSpPr>
          <p:nvPr>
            <p:ph type="title"/>
          </p:nvPr>
        </p:nvSpPr>
        <p:spPr/>
        <p:txBody>
          <a:bodyPr>
            <a:normAutofit/>
          </a:bodyPr>
          <a:lstStyle/>
          <a:p>
            <a:pPr algn="just"/>
            <a:r>
              <a:rPr lang="en-IN" sz="3000" b="1" dirty="0">
                <a:solidFill>
                  <a:schemeClr val="accent1">
                    <a:lumMod val="50000"/>
                  </a:schemeClr>
                </a:solidFill>
                <a:latin typeface="Copperplate Gothic Bold" panose="020E0705020206020404" pitchFamily="34" charset="0"/>
              </a:rPr>
              <a:t>Objective</a:t>
            </a:r>
          </a:p>
        </p:txBody>
      </p:sp>
      <p:sp>
        <p:nvSpPr>
          <p:cNvPr id="3" name="Content Placeholder 2">
            <a:extLst>
              <a:ext uri="{FF2B5EF4-FFF2-40B4-BE49-F238E27FC236}">
                <a16:creationId xmlns:a16="http://schemas.microsoft.com/office/drawing/2014/main" id="{BD8DFA65-767B-3479-DC5B-523433603032}"/>
              </a:ext>
            </a:extLst>
          </p:cNvPr>
          <p:cNvSpPr>
            <a:spLocks noGrp="1"/>
          </p:cNvSpPr>
          <p:nvPr>
            <p:ph idx="1"/>
          </p:nvPr>
        </p:nvSpPr>
        <p:spPr/>
        <p:txBody>
          <a:bodyPr/>
          <a:lstStyle/>
          <a:p>
            <a:pPr lvl="0"/>
            <a:r>
              <a:rPr lang="en-IN" sz="2400" dirty="0">
                <a:latin typeface="Times New Roman" panose="02020603050405020304" pitchFamily="18" charset="0"/>
                <a:cs typeface="Times New Roman" panose="02020603050405020304" pitchFamily="18" charset="0"/>
              </a:rPr>
              <a:t>Simulate a realistic VANET environment using </a:t>
            </a:r>
            <a:r>
              <a:rPr lang="en-IN" sz="2400" dirty="0" err="1">
                <a:latin typeface="Times New Roman" panose="02020603050405020304" pitchFamily="18" charset="0"/>
                <a:cs typeface="Times New Roman" panose="02020603050405020304" pitchFamily="18" charset="0"/>
              </a:rPr>
              <a:t>OMNeT</a:t>
            </a:r>
            <a:r>
              <a:rPr lang="en-IN" sz="2400" dirty="0">
                <a:latin typeface="Times New Roman" panose="02020603050405020304" pitchFamily="18" charset="0"/>
                <a:cs typeface="Times New Roman" panose="02020603050405020304" pitchFamily="18" charset="0"/>
              </a:rPr>
              <a:t>++, Veins, and SUMO. </a:t>
            </a:r>
          </a:p>
          <a:p>
            <a:pPr lvl="0"/>
            <a:r>
              <a:rPr lang="en-IN" sz="2400" dirty="0">
                <a:latin typeface="Times New Roman" panose="02020603050405020304" pitchFamily="18" charset="0"/>
                <a:cs typeface="Times New Roman" panose="02020603050405020304" pitchFamily="18" charset="0"/>
              </a:rPr>
              <a:t>Establish V2V and V2I communication between vehicles and infrastructure. </a:t>
            </a:r>
          </a:p>
          <a:p>
            <a:pPr lvl="0"/>
            <a:r>
              <a:rPr lang="en-IN" sz="2400" dirty="0">
                <a:latin typeface="Times New Roman" panose="02020603050405020304" pitchFamily="18" charset="0"/>
                <a:cs typeface="Times New Roman" panose="02020603050405020304" pitchFamily="18" charset="0"/>
              </a:rPr>
              <a:t>Implement a Sybil attack using a malicious vehicle with multiple fake identities. </a:t>
            </a:r>
          </a:p>
          <a:p>
            <a:pPr lvl="0"/>
            <a:r>
              <a:rPr lang="en-IN" sz="2400" dirty="0">
                <a:latin typeface="Times New Roman" panose="02020603050405020304" pitchFamily="18" charset="0"/>
                <a:cs typeface="Times New Roman" panose="02020603050405020304" pitchFamily="18" charset="0"/>
              </a:rPr>
              <a:t>Develop a position-consistency-based detection mechanism to identify Sybil identities. </a:t>
            </a:r>
          </a:p>
          <a:p>
            <a:pPr lvl="0"/>
            <a:r>
              <a:rPr lang="en-IN" sz="2400" dirty="0">
                <a:latin typeface="Times New Roman" panose="02020603050405020304" pitchFamily="18" charset="0"/>
                <a:cs typeface="Times New Roman" panose="02020603050405020304" pitchFamily="18" charset="0"/>
              </a:rPr>
              <a:t>Evaluate attack impact and detection performance using network and security metrics.</a:t>
            </a:r>
          </a:p>
        </p:txBody>
      </p:sp>
    </p:spTree>
    <p:extLst>
      <p:ext uri="{BB962C8B-B14F-4D97-AF65-F5344CB8AC3E}">
        <p14:creationId xmlns:p14="http://schemas.microsoft.com/office/powerpoint/2010/main" val="288080129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2892"/>
            <a:ext cx="8229600" cy="1143000"/>
          </a:xfrm>
        </p:spPr>
        <p:txBody>
          <a:bodyPr>
            <a:normAutofit/>
          </a:bodyPr>
          <a:lstStyle/>
          <a:p>
            <a:r>
              <a:rPr sz="3000" b="1" dirty="0">
                <a:solidFill>
                  <a:srgbClr val="003366"/>
                </a:solidFill>
                <a:latin typeface="Copperplate Gothic Bold" panose="020E0705020206020404" pitchFamily="34" charset="0"/>
              </a:rPr>
              <a:t>Problem Statemen</a:t>
            </a:r>
            <a:r>
              <a:rPr lang="en-US" sz="3000" b="1" dirty="0">
                <a:solidFill>
                  <a:srgbClr val="003366"/>
                </a:solidFill>
                <a:latin typeface="Copperplate Gothic Bold" panose="020E0705020206020404" pitchFamily="34" charset="0"/>
              </a:rPr>
              <a:t>t</a:t>
            </a:r>
            <a:endParaRPr sz="3000" b="1" dirty="0">
              <a:solidFill>
                <a:srgbClr val="003366"/>
              </a:solidFill>
              <a:latin typeface="Copperplate Gothic Bold" panose="020E0705020206020404" pitchFamily="34" charset="0"/>
            </a:endParaRPr>
          </a:p>
        </p:txBody>
      </p:sp>
      <p:sp>
        <p:nvSpPr>
          <p:cNvPr id="3" name="Content Placeholder 2"/>
          <p:cNvSpPr>
            <a:spLocks noGrp="1"/>
          </p:cNvSpPr>
          <p:nvPr>
            <p:ph idx="1"/>
          </p:nvPr>
        </p:nvSpPr>
        <p:spPr>
          <a:xfrm>
            <a:off x="457200" y="1353570"/>
            <a:ext cx="8229600" cy="4950710"/>
          </a:xfrm>
        </p:spPr>
        <p:txBody>
          <a:bodyPr>
            <a:normAutofit/>
          </a:bodyPr>
          <a:lstStyle/>
          <a:p>
            <a:pPr marL="0" lvl="0" indent="0" algn="just" defTabSz="91440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In a VANET, vehicles periodically exchange beacon messages containing information such as vehicle identity, position, speed and timestamp. However, a receiving vehicle cannot always verify whether every claimed identity represents a separate physical vehicle. This creates a vulnerability to Sybil attacks, where one malicious vehicle generates multiple fake identities and broadcasts messages as if they originate from multiple vehicles. Such attacks can create false information, influence the decisions of legitimate vehicles and affect safety-related applications. Therefore, the problem addressed in this project is to identify suspicious identities generated by a single physical vehicle by </a:t>
            </a:r>
            <a:r>
              <a:rPr lang="en-US" altLang="en-US" sz="2400" dirty="0" err="1">
                <a:latin typeface="Times New Roman" panose="02020603050405020304" pitchFamily="18" charset="0"/>
                <a:cs typeface="Times New Roman" panose="02020603050405020304" pitchFamily="18" charset="0"/>
              </a:rPr>
              <a:t>analysing</a:t>
            </a:r>
            <a:r>
              <a:rPr lang="en-US" altLang="en-US" sz="2400" dirty="0">
                <a:latin typeface="Times New Roman" panose="02020603050405020304" pitchFamily="18" charset="0"/>
                <a:cs typeface="Times New Roman" panose="02020603050405020304" pitchFamily="18" charset="0"/>
              </a:rPr>
              <a:t> the consistency of their position and movement information.</a:t>
            </a: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EE5E055-ECAA-CAB3-A3F7-97132E605814}"/>
              </a:ext>
            </a:extLst>
          </p:cNvPr>
          <p:cNvPicPr>
            <a:picLocks noChangeAspect="1"/>
          </p:cNvPicPr>
          <p:nvPr/>
        </p:nvPicPr>
        <p:blipFill>
          <a:blip r:embed="rId2"/>
          <a:stretch>
            <a:fillRect/>
          </a:stretch>
        </p:blipFill>
        <p:spPr>
          <a:xfrm>
            <a:off x="6923228" y="285145"/>
            <a:ext cx="1810276" cy="615494"/>
          </a:xfrm>
          <a:prstGeom prst="rect">
            <a:avLst/>
          </a:prstGeom>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648F3-2E01-3CD4-85E9-EB72E77F2807}"/>
              </a:ext>
            </a:extLst>
          </p:cNvPr>
          <p:cNvSpPr>
            <a:spLocks noGrp="1"/>
          </p:cNvSpPr>
          <p:nvPr>
            <p:ph type="title"/>
          </p:nvPr>
        </p:nvSpPr>
        <p:spPr/>
        <p:txBody>
          <a:bodyPr>
            <a:normAutofit/>
          </a:bodyPr>
          <a:lstStyle/>
          <a:p>
            <a:r>
              <a:rPr lang="en-US" sz="3000" dirty="0">
                <a:solidFill>
                  <a:schemeClr val="accent1">
                    <a:lumMod val="50000"/>
                  </a:schemeClr>
                </a:solidFill>
                <a:latin typeface="Copperplate Gothic Bold" panose="020E0705020206020404" pitchFamily="34" charset="0"/>
              </a:rPr>
              <a:t>Continuation</a:t>
            </a:r>
            <a:endParaRPr lang="en-IN" sz="3000" dirty="0">
              <a:solidFill>
                <a:schemeClr val="accent1">
                  <a:lumMod val="50000"/>
                </a:schemeClr>
              </a:solidFill>
              <a:latin typeface="Copperplate Gothic Bold" panose="020E0705020206020404" pitchFamily="34" charset="0"/>
            </a:endParaRPr>
          </a:p>
        </p:txBody>
      </p:sp>
      <p:pic>
        <p:nvPicPr>
          <p:cNvPr id="5" name="Content Placeholder 4">
            <a:extLst>
              <a:ext uri="{FF2B5EF4-FFF2-40B4-BE49-F238E27FC236}">
                <a16:creationId xmlns:a16="http://schemas.microsoft.com/office/drawing/2014/main" id="{8F659669-AAC7-8B80-284E-2BD5956D721D}"/>
              </a:ext>
            </a:extLst>
          </p:cNvPr>
          <p:cNvPicPr>
            <a:picLocks noGrp="1" noChangeAspect="1"/>
          </p:cNvPicPr>
          <p:nvPr>
            <p:ph idx="1"/>
          </p:nvPr>
        </p:nvPicPr>
        <p:blipFill>
          <a:blip r:embed="rId2"/>
          <a:stretch>
            <a:fillRect/>
          </a:stretch>
        </p:blipFill>
        <p:spPr>
          <a:xfrm>
            <a:off x="512762" y="2373788"/>
            <a:ext cx="4059238" cy="2741825"/>
          </a:xfrm>
          <a:prstGeom prst="rect">
            <a:avLst/>
          </a:prstGeom>
        </p:spPr>
      </p:pic>
      <p:pic>
        <p:nvPicPr>
          <p:cNvPr id="7" name="Picture 6">
            <a:extLst>
              <a:ext uri="{FF2B5EF4-FFF2-40B4-BE49-F238E27FC236}">
                <a16:creationId xmlns:a16="http://schemas.microsoft.com/office/drawing/2014/main" id="{8DA03B83-5794-9270-7F1D-AC7C94E28AEA}"/>
              </a:ext>
            </a:extLst>
          </p:cNvPr>
          <p:cNvPicPr>
            <a:picLocks noChangeAspect="1"/>
          </p:cNvPicPr>
          <p:nvPr/>
        </p:nvPicPr>
        <p:blipFill>
          <a:blip r:embed="rId3"/>
          <a:stretch>
            <a:fillRect/>
          </a:stretch>
        </p:blipFill>
        <p:spPr>
          <a:xfrm>
            <a:off x="4572000" y="2373788"/>
            <a:ext cx="4379886" cy="2998311"/>
          </a:xfrm>
          <a:prstGeom prst="rect">
            <a:avLst/>
          </a:prstGeom>
        </p:spPr>
      </p:pic>
    </p:spTree>
    <p:extLst>
      <p:ext uri="{BB962C8B-B14F-4D97-AF65-F5344CB8AC3E}">
        <p14:creationId xmlns:p14="http://schemas.microsoft.com/office/powerpoint/2010/main" val="410783668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629A-95A5-1F01-E7E5-240B40BC9C6E}"/>
              </a:ext>
            </a:extLst>
          </p:cNvPr>
          <p:cNvSpPr>
            <a:spLocks noGrp="1"/>
          </p:cNvSpPr>
          <p:nvPr>
            <p:ph type="title"/>
          </p:nvPr>
        </p:nvSpPr>
        <p:spPr/>
        <p:txBody>
          <a:bodyPr>
            <a:normAutofit/>
          </a:bodyPr>
          <a:lstStyle/>
          <a:p>
            <a:pPr algn="ctr"/>
            <a:r>
              <a:rPr lang="en-IN" sz="3000" b="1" dirty="0">
                <a:solidFill>
                  <a:srgbClr val="003366"/>
                </a:solidFill>
                <a:latin typeface="Copperplate Gothic Bold" panose="020E0705020206020404" pitchFamily="34" charset="0"/>
              </a:rPr>
              <a:t>Block Diagram of simulation and detection of sybil attacks in </a:t>
            </a:r>
            <a:r>
              <a:rPr lang="en-IN" sz="3000" b="1" dirty="0" err="1">
                <a:solidFill>
                  <a:srgbClr val="003366"/>
                </a:solidFill>
                <a:latin typeface="Copperplate Gothic Bold" panose="020E0705020206020404" pitchFamily="34" charset="0"/>
              </a:rPr>
              <a:t>vanet</a:t>
            </a:r>
            <a:endParaRPr lang="en-IN" sz="3000" dirty="0">
              <a:latin typeface="Copperplate Gothic Bold" panose="020E0705020206020404" pitchFamily="34" charset="0"/>
            </a:endParaRPr>
          </a:p>
        </p:txBody>
      </p:sp>
      <p:pic>
        <p:nvPicPr>
          <p:cNvPr id="6" name="Picture 5">
            <a:extLst>
              <a:ext uri="{FF2B5EF4-FFF2-40B4-BE49-F238E27FC236}">
                <a16:creationId xmlns:a16="http://schemas.microsoft.com/office/drawing/2014/main" id="{24309F5B-E610-AEF1-4D59-7F3B1A04E630}"/>
              </a:ext>
            </a:extLst>
          </p:cNvPr>
          <p:cNvPicPr>
            <a:picLocks noChangeAspect="1"/>
          </p:cNvPicPr>
          <p:nvPr/>
        </p:nvPicPr>
        <p:blipFill>
          <a:blip r:embed="rId3"/>
          <a:stretch>
            <a:fillRect/>
          </a:stretch>
        </p:blipFill>
        <p:spPr>
          <a:xfrm>
            <a:off x="7126428" y="57379"/>
            <a:ext cx="1810276" cy="615494"/>
          </a:xfrm>
          <a:prstGeom prst="rect">
            <a:avLst/>
          </a:prstGeom>
        </p:spPr>
      </p:pic>
      <p:sp>
        <p:nvSpPr>
          <p:cNvPr id="4" name="AutoShape 2" descr="Raspberry Pi 5 servo robotics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B83B4E2E-88B4-2B6C-85A1-A0A02E371B24}"/>
              </a:ext>
            </a:extLst>
          </p:cNvPr>
          <p:cNvPicPr>
            <a:picLocks noChangeAspect="1"/>
          </p:cNvPicPr>
          <p:nvPr/>
        </p:nvPicPr>
        <p:blipFill>
          <a:blip r:embed="rId4"/>
          <a:stretch>
            <a:fillRect/>
          </a:stretch>
        </p:blipFill>
        <p:spPr>
          <a:xfrm>
            <a:off x="705802" y="1463040"/>
            <a:ext cx="7615238" cy="5076825"/>
          </a:xfrm>
          <a:prstGeom prst="rect">
            <a:avLst/>
          </a:prstGeom>
        </p:spPr>
      </p:pic>
    </p:spTree>
    <p:extLst>
      <p:ext uri="{BB962C8B-B14F-4D97-AF65-F5344CB8AC3E}">
        <p14:creationId xmlns:p14="http://schemas.microsoft.com/office/powerpoint/2010/main" val="40563312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sz="3000" dirty="0">
                <a:solidFill>
                  <a:schemeClr val="accent1">
                    <a:lumMod val="50000"/>
                  </a:schemeClr>
                </a:solidFill>
                <a:latin typeface="Copperplate Gothic Bold" panose="020E0705020206020404" pitchFamily="34" charset="0"/>
              </a:rPr>
              <a:t> Methodology</a:t>
            </a:r>
          </a:p>
        </p:txBody>
      </p:sp>
      <p:pic>
        <p:nvPicPr>
          <p:cNvPr id="14" name="Picture 13">
            <a:extLst>
              <a:ext uri="{FF2B5EF4-FFF2-40B4-BE49-F238E27FC236}">
                <a16:creationId xmlns:a16="http://schemas.microsoft.com/office/drawing/2014/main" id="{24309F5B-E610-AEF1-4D59-7F3B1A04E630}"/>
              </a:ext>
            </a:extLst>
          </p:cNvPr>
          <p:cNvPicPr>
            <a:picLocks noChangeAspect="1"/>
          </p:cNvPicPr>
          <p:nvPr/>
        </p:nvPicPr>
        <p:blipFill>
          <a:blip r:embed="rId2"/>
          <a:stretch>
            <a:fillRect/>
          </a:stretch>
        </p:blipFill>
        <p:spPr>
          <a:xfrm>
            <a:off x="7126428" y="57379"/>
            <a:ext cx="1810276" cy="615494"/>
          </a:xfrm>
          <a:prstGeom prst="rect">
            <a:avLst/>
          </a:prstGeom>
        </p:spPr>
      </p:pic>
      <p:sp>
        <p:nvSpPr>
          <p:cNvPr id="3" name="Content Placeholder 2">
            <a:extLst>
              <a:ext uri="{FF2B5EF4-FFF2-40B4-BE49-F238E27FC236}">
                <a16:creationId xmlns:a16="http://schemas.microsoft.com/office/drawing/2014/main" id="{F7429D8F-7484-9D43-CDFB-5D68C40AC438}"/>
              </a:ext>
            </a:extLst>
          </p:cNvPr>
          <p:cNvSpPr>
            <a:spLocks noGrp="1"/>
          </p:cNvSpPr>
          <p:nvPr>
            <p:ph idx="1"/>
          </p:nvPr>
        </p:nvSpPr>
        <p:spPr>
          <a:xfrm>
            <a:off x="628650" y="1253331"/>
            <a:ext cx="7886700" cy="4351338"/>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The methodology begins by creating a realistic road and traffic environment using SUMO. Multiple vehicles are then introduced and their mobility information is transferred to </a:t>
            </a:r>
            <a:r>
              <a:rPr lang="en-US" sz="2400" dirty="0" err="1">
                <a:latin typeface="Times New Roman" panose="02020603050405020304" pitchFamily="18" charset="0"/>
                <a:cs typeface="Times New Roman" panose="02020603050405020304" pitchFamily="18" charset="0"/>
              </a:rPr>
              <a:t>OMNeT</a:t>
            </a:r>
            <a:r>
              <a:rPr lang="en-US" sz="2400" dirty="0">
                <a:latin typeface="Times New Roman" panose="02020603050405020304" pitchFamily="18" charset="0"/>
                <a:cs typeface="Times New Roman" panose="02020603050405020304" pitchFamily="18" charset="0"/>
              </a:rPr>
              <a:t>++ through </a:t>
            </a:r>
            <a:r>
              <a:rPr lang="en-US" sz="2400" dirty="0" err="1">
                <a:latin typeface="Times New Roman" panose="02020603050405020304" pitchFamily="18" charset="0"/>
                <a:cs typeface="Times New Roman" panose="02020603050405020304" pitchFamily="18" charset="0"/>
              </a:rPr>
              <a:t>TraCI</a:t>
            </a:r>
            <a:r>
              <a:rPr lang="en-US" sz="2400" dirty="0">
                <a:latin typeface="Times New Roman" panose="02020603050405020304" pitchFamily="18" charset="0"/>
                <a:cs typeface="Times New Roman" panose="02020603050405020304" pitchFamily="18" charset="0"/>
              </a:rPr>
              <a:t> and Veins. Vehicles periodically exchange beacon messages containing their claimed identity, position, speed and timestamp. A normal baseline scenario is first simulated to measure network performance without an attack. Next, one vehicle is configured as a Sybil attacker that broadcasts messages using multiple fake identities. The receiving vehicles or RSU </a:t>
            </a:r>
            <a:r>
              <a:rPr lang="en-US" sz="2400" dirty="0" err="1">
                <a:latin typeface="Times New Roman" panose="02020603050405020304" pitchFamily="18" charset="0"/>
                <a:cs typeface="Times New Roman" panose="02020603050405020304" pitchFamily="18" charset="0"/>
              </a:rPr>
              <a:t>analyse</a:t>
            </a:r>
            <a:r>
              <a:rPr lang="en-US" sz="2400" dirty="0">
                <a:latin typeface="Times New Roman" panose="02020603050405020304" pitchFamily="18" charset="0"/>
                <a:cs typeface="Times New Roman" panose="02020603050405020304" pitchFamily="18" charset="0"/>
              </a:rPr>
              <a:t> the reported identities and their movement information using the proposed detection mechanism. Suspicious identities are identified based on position and movement inconsistencies, and the network performance is then compared across normal, attack and attack-with-detection scenarios.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02646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solidFill>
                  <a:schemeClr val="accent1">
                    <a:lumMod val="50000"/>
                  </a:schemeClr>
                </a:solidFill>
                <a:latin typeface="Copperplate Gothic Bold" panose="020E0705020206020404" pitchFamily="34" charset="0"/>
              </a:rPr>
              <a:t>T</a:t>
            </a:r>
            <a:r>
              <a:rPr lang="en-IN" sz="3000" dirty="0" err="1">
                <a:solidFill>
                  <a:schemeClr val="accent1">
                    <a:lumMod val="50000"/>
                  </a:schemeClr>
                </a:solidFill>
                <a:latin typeface="Copperplate Gothic Bold" panose="020E0705020206020404" pitchFamily="34" charset="0"/>
              </a:rPr>
              <a:t>ools</a:t>
            </a:r>
            <a:r>
              <a:rPr lang="en-IN" sz="3000" dirty="0">
                <a:solidFill>
                  <a:schemeClr val="accent1">
                    <a:lumMod val="50000"/>
                  </a:schemeClr>
                </a:solidFill>
                <a:latin typeface="Copperplate Gothic Bold" panose="020E0705020206020404" pitchFamily="34" charset="0"/>
              </a:rPr>
              <a:t> used</a:t>
            </a:r>
            <a:endParaRPr lang="en-IN" sz="3000" dirty="0">
              <a:solidFill>
                <a:schemeClr val="accent1">
                  <a:lumMod val="50000"/>
                </a:schemeClr>
              </a:solidFill>
            </a:endParaRPr>
          </a:p>
        </p:txBody>
      </p:sp>
      <p:pic>
        <p:nvPicPr>
          <p:cNvPr id="9" name="Picture 8">
            <a:extLst>
              <a:ext uri="{FF2B5EF4-FFF2-40B4-BE49-F238E27FC236}">
                <a16:creationId xmlns:a16="http://schemas.microsoft.com/office/drawing/2014/main" id="{24309F5B-E610-AEF1-4D59-7F3B1A04E630}"/>
              </a:ext>
            </a:extLst>
          </p:cNvPr>
          <p:cNvPicPr>
            <a:picLocks noChangeAspect="1"/>
          </p:cNvPicPr>
          <p:nvPr/>
        </p:nvPicPr>
        <p:blipFill>
          <a:blip r:embed="rId2"/>
          <a:stretch>
            <a:fillRect/>
          </a:stretch>
        </p:blipFill>
        <p:spPr>
          <a:xfrm>
            <a:off x="7126428" y="57379"/>
            <a:ext cx="1810276" cy="615494"/>
          </a:xfrm>
          <a:prstGeom prst="rect">
            <a:avLst/>
          </a:prstGeom>
        </p:spPr>
      </p:pic>
      <p:sp>
        <p:nvSpPr>
          <p:cNvPr id="5" name="Content Placeholder 4">
            <a:extLst>
              <a:ext uri="{FF2B5EF4-FFF2-40B4-BE49-F238E27FC236}">
                <a16:creationId xmlns:a16="http://schemas.microsoft.com/office/drawing/2014/main" id="{24D57508-993C-223D-BCEB-84810492F413}"/>
              </a:ext>
            </a:extLst>
          </p:cNvPr>
          <p:cNvSpPr>
            <a:spLocks noGrp="1"/>
          </p:cNvSpPr>
          <p:nvPr>
            <p:ph idx="1"/>
          </p:nvPr>
        </p:nvSpPr>
        <p:spPr/>
        <p:txBody>
          <a:bodyPr>
            <a:normAutofit/>
          </a:bodyPr>
          <a:lstStyle/>
          <a:p>
            <a:pPr lvl="0"/>
            <a:r>
              <a:rPr lang="en-IN" sz="2400" b="1" dirty="0" err="1">
                <a:latin typeface="Times New Roman" panose="02020603050405020304" pitchFamily="18" charset="0"/>
                <a:cs typeface="Times New Roman" panose="02020603050405020304" pitchFamily="18" charset="0"/>
              </a:rPr>
              <a:t>OMNeT</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 Discrete-event network simulation </a:t>
            </a:r>
          </a:p>
          <a:p>
            <a:pPr lvl="0"/>
            <a:r>
              <a:rPr lang="en-IN" sz="2400" b="1" dirty="0">
                <a:latin typeface="Times New Roman" panose="02020603050405020304" pitchFamily="18" charset="0"/>
                <a:cs typeface="Times New Roman" panose="02020603050405020304" pitchFamily="18" charset="0"/>
              </a:rPr>
              <a:t>Veins</a:t>
            </a:r>
            <a:r>
              <a:rPr lang="en-IN" sz="2400" dirty="0">
                <a:latin typeface="Times New Roman" panose="02020603050405020304" pitchFamily="18" charset="0"/>
                <a:cs typeface="Times New Roman" panose="02020603050405020304" pitchFamily="18" charset="0"/>
              </a:rPr>
              <a:t>          – VANET simulation framework </a:t>
            </a:r>
          </a:p>
          <a:p>
            <a:pPr lvl="0"/>
            <a:r>
              <a:rPr lang="en-IN" sz="2400" b="1" dirty="0">
                <a:latin typeface="Times New Roman" panose="02020603050405020304" pitchFamily="18" charset="0"/>
                <a:cs typeface="Times New Roman" panose="02020603050405020304" pitchFamily="18" charset="0"/>
              </a:rPr>
              <a:t>SUMO</a:t>
            </a:r>
            <a:r>
              <a:rPr lang="en-IN" sz="2400" dirty="0">
                <a:latin typeface="Times New Roman" panose="02020603050405020304" pitchFamily="18" charset="0"/>
                <a:cs typeface="Times New Roman" panose="02020603050405020304" pitchFamily="18" charset="0"/>
              </a:rPr>
              <a:t>       – Vehicle mobility and traffic simulation </a:t>
            </a:r>
          </a:p>
          <a:p>
            <a:pPr lvl="0"/>
            <a:r>
              <a:rPr lang="en-IN" sz="2400" b="1" dirty="0" err="1">
                <a:latin typeface="Times New Roman" panose="02020603050405020304" pitchFamily="18" charset="0"/>
                <a:cs typeface="Times New Roman" panose="02020603050405020304" pitchFamily="18" charset="0"/>
              </a:rPr>
              <a:t>TraCI</a:t>
            </a:r>
            <a:r>
              <a:rPr lang="en-IN" sz="2400" dirty="0">
                <a:latin typeface="Times New Roman" panose="02020603050405020304" pitchFamily="18" charset="0"/>
                <a:cs typeface="Times New Roman" panose="02020603050405020304" pitchFamily="18" charset="0"/>
              </a:rPr>
              <a:t>        – Communication interface between SUMO and </a:t>
            </a:r>
            <a:r>
              <a:rPr lang="en-IN" sz="2400" dirty="0" err="1">
                <a:latin typeface="Times New Roman" panose="02020603050405020304" pitchFamily="18" charset="0"/>
                <a:cs typeface="Times New Roman" panose="02020603050405020304" pitchFamily="18" charset="0"/>
              </a:rPr>
              <a:t>OMNeT</a:t>
            </a:r>
            <a:r>
              <a:rPr lang="en-IN" sz="2400" dirty="0">
                <a:latin typeface="Times New Roman" panose="02020603050405020304" pitchFamily="18" charset="0"/>
                <a:cs typeface="Times New Roman" panose="02020603050405020304" pitchFamily="18" charset="0"/>
              </a:rPr>
              <a:t>++ </a:t>
            </a:r>
          </a:p>
          <a:p>
            <a:pPr lvl="0"/>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Data extraction, processing, analysis, and graph generation</a:t>
            </a:r>
          </a:p>
        </p:txBody>
      </p:sp>
    </p:spTree>
    <p:extLst>
      <p:ext uri="{BB962C8B-B14F-4D97-AF65-F5344CB8AC3E}">
        <p14:creationId xmlns:p14="http://schemas.microsoft.com/office/powerpoint/2010/main" val="229238552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CE374-358D-0997-400D-3EADE59B72D7}"/>
              </a:ext>
            </a:extLst>
          </p:cNvPr>
          <p:cNvSpPr>
            <a:spLocks noGrp="1"/>
          </p:cNvSpPr>
          <p:nvPr>
            <p:ph type="title"/>
          </p:nvPr>
        </p:nvSpPr>
        <p:spPr/>
        <p:txBody>
          <a:bodyPr>
            <a:normAutofit/>
          </a:bodyPr>
          <a:lstStyle/>
          <a:p>
            <a:r>
              <a:rPr lang="en-US" sz="3000" dirty="0">
                <a:solidFill>
                  <a:schemeClr val="accent1">
                    <a:lumMod val="50000"/>
                  </a:schemeClr>
                </a:solidFill>
                <a:latin typeface="Copperplate Gothic Bold" panose="020E0705020206020404" pitchFamily="34" charset="0"/>
              </a:rPr>
              <a:t>Flow chart</a:t>
            </a:r>
            <a:endParaRPr lang="en-IN" sz="3000" dirty="0">
              <a:solidFill>
                <a:schemeClr val="accent1">
                  <a:lumMod val="50000"/>
                </a:schemeClr>
              </a:solidFill>
              <a:latin typeface="Copperplate Gothic Bold" panose="020E0705020206020404" pitchFamily="34" charset="0"/>
            </a:endParaRPr>
          </a:p>
        </p:txBody>
      </p:sp>
      <p:pic>
        <p:nvPicPr>
          <p:cNvPr id="5" name="Content Placeholder 4">
            <a:extLst>
              <a:ext uri="{FF2B5EF4-FFF2-40B4-BE49-F238E27FC236}">
                <a16:creationId xmlns:a16="http://schemas.microsoft.com/office/drawing/2014/main" id="{7B8D901F-A9E1-743B-B72F-8DE9C8B52E0A}"/>
              </a:ext>
            </a:extLst>
          </p:cNvPr>
          <p:cNvPicPr>
            <a:picLocks noGrp="1" noChangeAspect="1"/>
          </p:cNvPicPr>
          <p:nvPr>
            <p:ph idx="1"/>
          </p:nvPr>
        </p:nvPicPr>
        <p:blipFill>
          <a:blip r:embed="rId2"/>
          <a:stretch>
            <a:fillRect/>
          </a:stretch>
        </p:blipFill>
        <p:spPr>
          <a:xfrm>
            <a:off x="704144" y="1825625"/>
            <a:ext cx="7735712" cy="4351338"/>
          </a:xfrm>
          <a:prstGeom prst="rect">
            <a:avLst/>
          </a:prstGeom>
        </p:spPr>
      </p:pic>
    </p:spTree>
    <p:extLst>
      <p:ext uri="{BB962C8B-B14F-4D97-AF65-F5344CB8AC3E}">
        <p14:creationId xmlns:p14="http://schemas.microsoft.com/office/powerpoint/2010/main" val="773093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solidFill>
                  <a:schemeClr val="accent1">
                    <a:lumMod val="50000"/>
                  </a:schemeClr>
                </a:solidFill>
                <a:latin typeface="Copperplate Gothic Bold" panose="020E0705020206020404" pitchFamily="34" charset="0"/>
              </a:rPr>
              <a:t>E</a:t>
            </a:r>
            <a:r>
              <a:rPr lang="en-IN" sz="3000" dirty="0" err="1">
                <a:solidFill>
                  <a:schemeClr val="accent1">
                    <a:lumMod val="50000"/>
                  </a:schemeClr>
                </a:solidFill>
                <a:latin typeface="Copperplate Gothic Bold" panose="020E0705020206020404" pitchFamily="34" charset="0"/>
              </a:rPr>
              <a:t>xisting</a:t>
            </a:r>
            <a:r>
              <a:rPr lang="en-IN" sz="3000" dirty="0">
                <a:solidFill>
                  <a:schemeClr val="accent1">
                    <a:lumMod val="50000"/>
                  </a:schemeClr>
                </a:solidFill>
                <a:latin typeface="Copperplate Gothic Bold" panose="020E0705020206020404" pitchFamily="34" charset="0"/>
              </a:rPr>
              <a:t> methods</a:t>
            </a:r>
            <a:endParaRPr lang="en-IN" sz="3000" dirty="0">
              <a:solidFill>
                <a:schemeClr val="accent1">
                  <a:lumMod val="50000"/>
                </a:schemeClr>
              </a:solidFill>
            </a:endParaRPr>
          </a:p>
        </p:txBody>
      </p:sp>
      <p:sp>
        <p:nvSpPr>
          <p:cNvPr id="5" name="Content Placeholder 4">
            <a:extLst>
              <a:ext uri="{FF2B5EF4-FFF2-40B4-BE49-F238E27FC236}">
                <a16:creationId xmlns:a16="http://schemas.microsoft.com/office/drawing/2014/main" id="{CBEC2EC6-B6C2-1044-0C38-841332EFA28A}"/>
              </a:ext>
            </a:extLst>
          </p:cNvPr>
          <p:cNvSpPr>
            <a:spLocks noGrp="1"/>
          </p:cNvSpPr>
          <p:nvPr>
            <p:ph idx="1"/>
          </p:nvPr>
        </p:nvSpPr>
        <p:spPr>
          <a:xfrm>
            <a:off x="628650" y="1398905"/>
            <a:ext cx="7886700" cy="4351338"/>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Several techniques have been proposed for detecting Sybil attacks in VANETs. Position-based methods compare the claimed positions of different identities and identify identities appearing at the same or physically impossible locations. RSSI-based methods use received signal strength to estimate whether multiple identities could originate from the same physical location. Trust-based methods assign trust values to vehicles based on their previous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and communication history. Timestamp and mobility-based methods </a:t>
            </a:r>
            <a:r>
              <a:rPr lang="en-US" sz="2400" dirty="0" err="1">
                <a:latin typeface="Times New Roman" panose="02020603050405020304" pitchFamily="18" charset="0"/>
                <a:cs typeface="Times New Roman" panose="02020603050405020304" pitchFamily="18" charset="0"/>
              </a:rPr>
              <a:t>analyse</a:t>
            </a:r>
            <a:r>
              <a:rPr lang="en-US" sz="2400" dirty="0">
                <a:latin typeface="Times New Roman" panose="02020603050405020304" pitchFamily="18" charset="0"/>
                <a:cs typeface="Times New Roman" panose="02020603050405020304" pitchFamily="18" charset="0"/>
              </a:rPr>
              <a:t> the timing and movement patterns of reported vehicles. Although these approaches can be effective, their performance depends on factors such as positioning accuracy, communication conditions, attacker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and computational requirements.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10428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18275" y="320040"/>
            <a:ext cx="5513832" cy="553998"/>
          </a:xfrm>
          <a:prstGeom prst="rect">
            <a:avLst/>
          </a:prstGeom>
          <a:noFill/>
        </p:spPr>
        <p:txBody>
          <a:bodyPr wrap="square" rtlCol="0">
            <a:spAutoFit/>
          </a:bodyPr>
          <a:lstStyle/>
          <a:p>
            <a:r>
              <a:rPr lang="en-IN" sz="3000" dirty="0">
                <a:solidFill>
                  <a:schemeClr val="accent1">
                    <a:lumMod val="50000"/>
                  </a:schemeClr>
                </a:solidFill>
                <a:latin typeface="Copperplate Gothic Bold" panose="020E0705020206020404" pitchFamily="34" charset="0"/>
              </a:rPr>
              <a:t>Literature survey</a:t>
            </a:r>
          </a:p>
        </p:txBody>
      </p:sp>
      <p:pic>
        <p:nvPicPr>
          <p:cNvPr id="4" name="Picture 3">
            <a:extLst>
              <a:ext uri="{FF2B5EF4-FFF2-40B4-BE49-F238E27FC236}">
                <a16:creationId xmlns:a16="http://schemas.microsoft.com/office/drawing/2014/main" id="{24309F5B-E610-AEF1-4D59-7F3B1A04E630}"/>
              </a:ext>
            </a:extLst>
          </p:cNvPr>
          <p:cNvPicPr>
            <a:picLocks noChangeAspect="1"/>
          </p:cNvPicPr>
          <p:nvPr/>
        </p:nvPicPr>
        <p:blipFill>
          <a:blip r:embed="rId2"/>
          <a:stretch>
            <a:fillRect/>
          </a:stretch>
        </p:blipFill>
        <p:spPr>
          <a:xfrm>
            <a:off x="7126428" y="57379"/>
            <a:ext cx="1810276" cy="61549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610" y="1173480"/>
            <a:ext cx="8758469" cy="4033256"/>
          </a:xfrm>
          <a:prstGeom prst="rect">
            <a:avLst/>
          </a:prstGeom>
        </p:spPr>
      </p:pic>
    </p:spTree>
    <p:extLst>
      <p:ext uri="{BB962C8B-B14F-4D97-AF65-F5344CB8AC3E}">
        <p14:creationId xmlns:p14="http://schemas.microsoft.com/office/powerpoint/2010/main" val="200997689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2138-575D-34F0-1280-8FEE01B2307B}"/>
              </a:ext>
            </a:extLst>
          </p:cNvPr>
          <p:cNvSpPr>
            <a:spLocks noGrp="1"/>
          </p:cNvSpPr>
          <p:nvPr>
            <p:ph type="title"/>
          </p:nvPr>
        </p:nvSpPr>
        <p:spPr/>
        <p:txBody>
          <a:bodyPr/>
          <a:lstStyle/>
          <a:p>
            <a:r>
              <a:rPr lang="en-US" b="1" dirty="0">
                <a:solidFill>
                  <a:schemeClr val="accent1">
                    <a:lumMod val="50000"/>
                  </a:schemeClr>
                </a:solidFill>
                <a:latin typeface="Arial" panose="020B0604020202020204" pitchFamily="34" charset="0"/>
                <a:cs typeface="Arial" panose="020B0604020202020204" pitchFamily="34" charset="0"/>
              </a:rPr>
              <a:t>  </a:t>
            </a:r>
            <a:r>
              <a:rPr lang="en-US" sz="3000" b="1" dirty="0">
                <a:solidFill>
                  <a:schemeClr val="accent1">
                    <a:lumMod val="50000"/>
                  </a:schemeClr>
                </a:solidFill>
                <a:latin typeface="Copperplate Gothic Bold" panose="020E0705020206020404" pitchFamily="34" charset="0"/>
                <a:cs typeface="Arial" panose="020B0604020202020204" pitchFamily="34" charset="0"/>
              </a:rPr>
              <a:t>Proposed method</a:t>
            </a:r>
            <a:endParaRPr lang="en-IN" sz="3000" b="1" dirty="0">
              <a:solidFill>
                <a:schemeClr val="accent1">
                  <a:lumMod val="50000"/>
                </a:schemeClr>
              </a:solidFill>
              <a:latin typeface="Copperplate Gothic Bold" panose="020E07050202060204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13F411E-AE26-E15E-E1A5-6369AAB4B7C7}"/>
              </a:ext>
            </a:extLst>
          </p:cNvPr>
          <p:cNvSpPr>
            <a:spLocks noGrp="1"/>
          </p:cNvSpPr>
          <p:nvPr>
            <p:ph idx="1"/>
          </p:nvPr>
        </p:nvSpPr>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The proposed method is a position-consistency-based Sybil attack detection mechanism. Each receiving vehicle or RSU maintains information about the claimed identity, position and timestamp of received beacon messages. The system checks whether multiple identities appear at the same or nearly the same physical position at the same time. It also checks for physically impossible position changes and highly synchronized movement patterns between different identities. If the observed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exceeds a predefined threshold, the corresponding identity is flagged as suspicious. This approach uses the physical movement of vehicles as additional evidence instead of relying only on the claimed identity.</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309F5B-E610-AEF1-4D59-7F3B1A04E630}"/>
              </a:ext>
            </a:extLst>
          </p:cNvPr>
          <p:cNvPicPr>
            <a:picLocks noChangeAspect="1"/>
          </p:cNvPicPr>
          <p:nvPr/>
        </p:nvPicPr>
        <p:blipFill>
          <a:blip r:embed="rId2"/>
          <a:stretch>
            <a:fillRect/>
          </a:stretch>
        </p:blipFill>
        <p:spPr>
          <a:xfrm>
            <a:off x="7126428" y="57379"/>
            <a:ext cx="1810276" cy="615494"/>
          </a:xfrm>
          <a:prstGeom prst="rect">
            <a:avLst/>
          </a:prstGeom>
        </p:spPr>
      </p:pic>
    </p:spTree>
    <p:extLst>
      <p:ext uri="{BB962C8B-B14F-4D97-AF65-F5344CB8AC3E}">
        <p14:creationId xmlns:p14="http://schemas.microsoft.com/office/powerpoint/2010/main" val="179078986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D59F-9EC4-516E-5251-5029CC6C6FCC}"/>
              </a:ext>
            </a:extLst>
          </p:cNvPr>
          <p:cNvSpPr>
            <a:spLocks noGrp="1"/>
          </p:cNvSpPr>
          <p:nvPr>
            <p:ph type="title"/>
          </p:nvPr>
        </p:nvSpPr>
        <p:spPr>
          <a:xfrm>
            <a:off x="628650" y="365126"/>
            <a:ext cx="7886700" cy="1331594"/>
          </a:xfrm>
        </p:spPr>
        <p:txBody>
          <a:bodyPr>
            <a:normAutofit/>
          </a:bodyPr>
          <a:lstStyle/>
          <a:p>
            <a:r>
              <a:rPr lang="en-US" sz="3000" b="1" dirty="0">
                <a:solidFill>
                  <a:schemeClr val="accent1">
                    <a:lumMod val="50000"/>
                  </a:schemeClr>
                </a:solidFill>
                <a:latin typeface="Copperplate Gothic Bold" panose="020E0705020206020404" pitchFamily="34" charset="0"/>
                <a:cs typeface="Arial" panose="020B0604020202020204" pitchFamily="34" charset="0"/>
              </a:rPr>
              <a:t>Experimental scenarios</a:t>
            </a:r>
            <a:endParaRPr lang="en-IN" sz="3000" b="1" dirty="0">
              <a:solidFill>
                <a:schemeClr val="accent1">
                  <a:lumMod val="50000"/>
                </a:schemeClr>
              </a:solidFill>
              <a:latin typeface="Copperplate Gothic Bold" panose="020E07050202060204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FD0AA4F-4F79-6C92-CD90-29AEB6DC7E9C}"/>
              </a:ext>
            </a:extLst>
          </p:cNvPr>
          <p:cNvSpPr>
            <a:spLocks noGrp="1"/>
          </p:cNvSpPr>
          <p:nvPr>
            <p:ph idx="1"/>
          </p:nvPr>
        </p:nvSpPr>
        <p:spPr>
          <a:xfrm>
            <a:off x="628650" y="1432560"/>
            <a:ext cx="7886700" cy="4744403"/>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proposed system will be evaluated using multiple controlled scenarios. The baseline scenario represents normal VANET communication without an attack. The attack scenario introduces a Sybil attacker without any detection mechanism to observe its impact on network performance. The attack with detection scenario enables the proposed detection mechanism to evaluate whether the attack can be identified and its impact reduced. Additional experiments will vary the number of fake identities, such as 1, 3 and 5 identities, and different vehicle densities will be considered to study system performance under different traffic conditions.</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309F5B-E610-AEF1-4D59-7F3B1A04E630}"/>
              </a:ext>
            </a:extLst>
          </p:cNvPr>
          <p:cNvPicPr>
            <a:picLocks noChangeAspect="1"/>
          </p:cNvPicPr>
          <p:nvPr/>
        </p:nvPicPr>
        <p:blipFill>
          <a:blip r:embed="rId2"/>
          <a:stretch>
            <a:fillRect/>
          </a:stretch>
        </p:blipFill>
        <p:spPr>
          <a:xfrm>
            <a:off x="7126428" y="57379"/>
            <a:ext cx="1810276" cy="615494"/>
          </a:xfrm>
          <a:prstGeom prst="rect">
            <a:avLst/>
          </a:prstGeom>
        </p:spPr>
      </p:pic>
    </p:spTree>
    <p:extLst>
      <p:ext uri="{BB962C8B-B14F-4D97-AF65-F5344CB8AC3E}">
        <p14:creationId xmlns:p14="http://schemas.microsoft.com/office/powerpoint/2010/main" val="112206741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1DE29-B578-D193-44DD-770A38826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137D4-E2DF-819E-FA8B-1F190E67CCD3}"/>
              </a:ext>
            </a:extLst>
          </p:cNvPr>
          <p:cNvSpPr>
            <a:spLocks noGrp="1"/>
          </p:cNvSpPr>
          <p:nvPr>
            <p:ph type="title"/>
          </p:nvPr>
        </p:nvSpPr>
        <p:spPr/>
        <p:txBody>
          <a:bodyPr>
            <a:normAutofit/>
          </a:bodyPr>
          <a:lstStyle/>
          <a:p>
            <a:r>
              <a:rPr lang="en-IN" sz="3000" b="1" dirty="0" err="1">
                <a:solidFill>
                  <a:srgbClr val="003366"/>
                </a:solidFill>
                <a:latin typeface="Copperplate Gothic Bold" panose="020E0705020206020404" pitchFamily="34" charset="0"/>
              </a:rPr>
              <a:t>Realistics</a:t>
            </a:r>
            <a:r>
              <a:rPr lang="en-IN" sz="3000" b="1" dirty="0">
                <a:solidFill>
                  <a:srgbClr val="003366"/>
                </a:solidFill>
                <a:latin typeface="Copperplate Gothic Bold" panose="020E0705020206020404" pitchFamily="34" charset="0"/>
              </a:rPr>
              <a:t> constraints </a:t>
            </a:r>
            <a:endParaRPr lang="en-IN" sz="3000" dirty="0">
              <a:latin typeface="Copperplate Gothic Bold" panose="020E0705020206020404" pitchFamily="34" charset="0"/>
            </a:endParaRPr>
          </a:p>
        </p:txBody>
      </p:sp>
      <p:sp>
        <p:nvSpPr>
          <p:cNvPr id="4" name="Content Placeholder 3">
            <a:extLst>
              <a:ext uri="{FF2B5EF4-FFF2-40B4-BE49-F238E27FC236}">
                <a16:creationId xmlns:a16="http://schemas.microsoft.com/office/drawing/2014/main" id="{294E09AA-8969-0091-FE8E-15F17342274E}"/>
              </a:ext>
            </a:extLst>
          </p:cNvPr>
          <p:cNvSpPr>
            <a:spLocks noGrp="1"/>
          </p:cNvSpPr>
          <p:nvPr>
            <p:ph idx="1"/>
          </p:nvPr>
        </p:nvSpPr>
        <p:spPr>
          <a:xfrm>
            <a:off x="528320" y="1690689"/>
            <a:ext cx="8290560" cy="480218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project is simulation-based, so the simulated wireless communication environment may not completely represent real-world V2X communication. Detection accuracy can be affected by GPS or position accuracy, vehicle density, communication conditions and the selected detection thresholds. A sophisticated attacker may attempt to generate more realistic positions and movement patterns, making detection more difficult. Colluding attackers using multiple physical vehicles may also reduce the effectiveness of a simple position-consistency approach. Therefore, the proposed method is intended as a practical simulation-based detection mechanism rather than a complete solution to all VANET security threats</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4F6B5CE-3810-F980-7B28-A7DC929181FB}"/>
              </a:ext>
            </a:extLst>
          </p:cNvPr>
          <p:cNvPicPr>
            <a:picLocks noChangeAspect="1"/>
          </p:cNvPicPr>
          <p:nvPr/>
        </p:nvPicPr>
        <p:blipFill>
          <a:blip r:embed="rId2"/>
          <a:stretch>
            <a:fillRect/>
          </a:stretch>
        </p:blipFill>
        <p:spPr>
          <a:xfrm>
            <a:off x="6923228" y="285145"/>
            <a:ext cx="1810276" cy="615494"/>
          </a:xfrm>
          <a:prstGeom prst="rect">
            <a:avLst/>
          </a:prstGeom>
        </p:spPr>
      </p:pic>
    </p:spTree>
    <p:extLst>
      <p:ext uri="{BB962C8B-B14F-4D97-AF65-F5344CB8AC3E}">
        <p14:creationId xmlns:p14="http://schemas.microsoft.com/office/powerpoint/2010/main" val="348562815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218CC-F19F-A7CF-2016-13AC6B633695}"/>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This project focuses on simulating and detecting Sybil attacks in Vehicular Ad Hoc Networks using </a:t>
            </a:r>
            <a:r>
              <a:rPr lang="en-US" sz="2400" dirty="0" err="1">
                <a:latin typeface="Times New Roman" panose="02020603050405020304" pitchFamily="18" charset="0"/>
                <a:cs typeface="Times New Roman" panose="02020603050405020304" pitchFamily="18" charset="0"/>
              </a:rPr>
              <a:t>OMNeT</a:t>
            </a:r>
            <a:r>
              <a:rPr lang="en-US" sz="2400" dirty="0">
                <a:latin typeface="Times New Roman" panose="02020603050405020304" pitchFamily="18" charset="0"/>
                <a:cs typeface="Times New Roman" panose="02020603050405020304" pitchFamily="18" charset="0"/>
              </a:rPr>
              <a:t>++, Veins and SUMO. The system creates a realistic moving-vehicle environment, establishes V2V and V2I communication, introduces a malicious vehicle using multiple fake identities and applies a position-consistency-based detection mechanism. The effectiveness of the proposed approach will be evaluated by comparing normal and attacked network conditions using parameters such as Packet Delivery Ratio, delay, packet loss, throughput, detection rate and false-positive rate. </a:t>
            </a:r>
            <a:endParaRPr lang="en-IN" sz="2400" dirty="0"/>
          </a:p>
          <a:p>
            <a:endParaRPr lang="en-IN" dirty="0"/>
          </a:p>
        </p:txBody>
      </p:sp>
      <p:pic>
        <p:nvPicPr>
          <p:cNvPr id="4" name="Picture 3">
            <a:extLst>
              <a:ext uri="{FF2B5EF4-FFF2-40B4-BE49-F238E27FC236}">
                <a16:creationId xmlns:a16="http://schemas.microsoft.com/office/drawing/2014/main" id="{24309F5B-E610-AEF1-4D59-7F3B1A04E630}"/>
              </a:ext>
            </a:extLst>
          </p:cNvPr>
          <p:cNvPicPr>
            <a:picLocks noChangeAspect="1"/>
          </p:cNvPicPr>
          <p:nvPr/>
        </p:nvPicPr>
        <p:blipFill>
          <a:blip r:embed="rId2"/>
          <a:stretch>
            <a:fillRect/>
          </a:stretch>
        </p:blipFill>
        <p:spPr>
          <a:xfrm>
            <a:off x="7126428" y="57379"/>
            <a:ext cx="1810276" cy="615494"/>
          </a:xfrm>
          <a:prstGeom prst="rect">
            <a:avLst/>
          </a:prstGeom>
        </p:spPr>
      </p:pic>
      <p:sp>
        <p:nvSpPr>
          <p:cNvPr id="2" name="TextBox 1">
            <a:extLst>
              <a:ext uri="{FF2B5EF4-FFF2-40B4-BE49-F238E27FC236}">
                <a16:creationId xmlns:a16="http://schemas.microsoft.com/office/drawing/2014/main" id="{1EF22FE8-1C88-8EBC-6A99-460B22445F60}"/>
              </a:ext>
            </a:extLst>
          </p:cNvPr>
          <p:cNvSpPr txBox="1"/>
          <p:nvPr/>
        </p:nvSpPr>
        <p:spPr>
          <a:xfrm>
            <a:off x="894080" y="796588"/>
            <a:ext cx="6797040" cy="553998"/>
          </a:xfrm>
          <a:prstGeom prst="rect">
            <a:avLst/>
          </a:prstGeom>
          <a:noFill/>
        </p:spPr>
        <p:txBody>
          <a:bodyPr wrap="square" rtlCol="0">
            <a:spAutoFit/>
          </a:bodyPr>
          <a:lstStyle/>
          <a:p>
            <a:r>
              <a:rPr lang="en-US" sz="3000" dirty="0">
                <a:solidFill>
                  <a:schemeClr val="accent1">
                    <a:lumMod val="50000"/>
                  </a:schemeClr>
                </a:solidFill>
                <a:latin typeface="Copperplate Gothic Bold" panose="020E0705020206020404" pitchFamily="34" charset="0"/>
              </a:rPr>
              <a:t>Conclusion</a:t>
            </a:r>
            <a:endParaRPr lang="en-IN" sz="3000" dirty="0">
              <a:solidFill>
                <a:schemeClr val="accent1">
                  <a:lumMod val="50000"/>
                </a:schemeClr>
              </a:solidFill>
              <a:latin typeface="Copperplate Gothic Bold" panose="020E0705020206020404" pitchFamily="34" charset="0"/>
            </a:endParaRPr>
          </a:p>
        </p:txBody>
      </p:sp>
    </p:spTree>
    <p:extLst>
      <p:ext uri="{BB962C8B-B14F-4D97-AF65-F5344CB8AC3E}">
        <p14:creationId xmlns:p14="http://schemas.microsoft.com/office/powerpoint/2010/main" val="171843880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E099-A7E2-A6DA-4836-7F44BC023BC7}"/>
              </a:ext>
            </a:extLst>
          </p:cNvPr>
          <p:cNvSpPr>
            <a:spLocks noGrp="1"/>
          </p:cNvSpPr>
          <p:nvPr>
            <p:ph type="title"/>
          </p:nvPr>
        </p:nvSpPr>
        <p:spPr/>
        <p:txBody>
          <a:bodyPr>
            <a:normAutofit/>
          </a:bodyPr>
          <a:lstStyle/>
          <a:p>
            <a:r>
              <a:rPr lang="en-US" sz="3000" dirty="0">
                <a:solidFill>
                  <a:schemeClr val="accent1">
                    <a:lumMod val="50000"/>
                  </a:schemeClr>
                </a:solidFill>
                <a:latin typeface="Copperplate Gothic Bold" panose="020E0705020206020404" pitchFamily="34" charset="0"/>
              </a:rPr>
              <a:t>Future scope</a:t>
            </a:r>
            <a:endParaRPr lang="en-IN" sz="3000" dirty="0">
              <a:solidFill>
                <a:schemeClr val="accent1">
                  <a:lumMod val="50000"/>
                </a:schemeClr>
              </a:solidFill>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F4DC4857-B335-B5C7-D495-8498CBB47044}"/>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project can be extended to detect other VANET security threats such as Denial-of-Service attacks, false-information attacks, black-hole attacks and GPS spoofing. More advanced detection techniques such as machine learning, trust-based detection and cooperative detection can also be investigated. Future work can include larger and more complex road networks, real-world traffic and V2X datasets, hardware-in-the-loop testing and integration with real automotive communication systems. The proposed system can also be extended toward safety applications such as cooperative collision warning, where reliable and trustworthy vehicle information is critical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867089"/>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5521</TotalTime>
  <Words>1318</Words>
  <Application>Microsoft Office PowerPoint</Application>
  <PresentationFormat>On-screen Show (4:3)</PresentationFormat>
  <Paragraphs>61</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Copperplate Gothic Bold</vt:lpstr>
      <vt:lpstr>Times New Roman</vt:lpstr>
      <vt:lpstr>Office Theme</vt:lpstr>
      <vt:lpstr> Simulation and Detection of Sybil Attacks in Vehicular Ad Hoc Networks using OMNeT++, Veins and SUMO</vt:lpstr>
      <vt:lpstr>Agenda</vt:lpstr>
      <vt:lpstr>Introduction</vt:lpstr>
      <vt:lpstr>Abstract</vt:lpstr>
      <vt:lpstr>Objective</vt:lpstr>
      <vt:lpstr>Problem Statement</vt:lpstr>
      <vt:lpstr>Continuation</vt:lpstr>
      <vt:lpstr>Block Diagram of simulation and detection of sybil attacks in vanet</vt:lpstr>
      <vt:lpstr> Methodology</vt:lpstr>
      <vt:lpstr>Tools used</vt:lpstr>
      <vt:lpstr>Flow chart</vt:lpstr>
      <vt:lpstr>Existing methods</vt:lpstr>
      <vt:lpstr>PowerPoint Presentation</vt:lpstr>
      <vt:lpstr>  Proposed method</vt:lpstr>
      <vt:lpstr>Experimental scenarios</vt:lpstr>
      <vt:lpstr>Realistics constraints </vt:lpstr>
      <vt:lpstr>PowerPoint Presentation</vt:lpstr>
      <vt:lpstr>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Development of an Raspberry pi -Based Autonomous  Spider Robot for Smart Agriculture</dc:title>
  <dc:subject/>
  <dc:creator>ARAVINDH J</dc:creator>
  <cp:keywords/>
  <dc:description>generated using python-pptx</dc:description>
  <cp:lastModifiedBy>ARAVINDH J</cp:lastModifiedBy>
  <cp:revision>48</cp:revision>
  <dcterms:created xsi:type="dcterms:W3CDTF">2013-01-27T09:14:16Z</dcterms:created>
  <dcterms:modified xsi:type="dcterms:W3CDTF">2026-09-08T07:23:55Z</dcterms:modified>
  <cp:category/>
</cp:coreProperties>
</file>